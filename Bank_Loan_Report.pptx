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54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731520"/>
            <a:ext cx="1371600" cy="1371600"/>
          </a:xfrm>
          <a:prstGeom prst="ellipse">
            <a:avLst/>
          </a:prstGeom>
          <a:solidFill>
            <a:srgbClr val="1A306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0" y="777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REPORT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28600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Excel Dashboard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2148840"/>
            <a:ext cx="4572000" cy="36576"/>
          </a:xfrm>
          <a:prstGeom prst="rect">
            <a:avLst/>
          </a:prstGeom>
          <a:solidFill>
            <a:srgbClr val="94A3C4"/>
          </a:solidFill>
          <a:ln w="12700">
            <a:solidFill>
              <a:srgbClr val="94A3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46430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loan portfolio analysis using PivotTables, and Excel Charts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1920240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38.6K Applications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337560"/>
            <a:ext cx="1920240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$435.8M Funded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337560"/>
            <a:ext cx="1920240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86.18% Good Loans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337560"/>
            <a:ext cx="1920240" cy="384048"/>
          </a:xfrm>
          <a:prstGeom prst="rect">
            <a:avLst/>
          </a:prstGeom>
          <a:solidFill>
            <a:srgbClr val="1A306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12.05% Avg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C4"/>
                </a:solidFill>
              </a:rPr>
              <a:t>Abhisek Nayak  |  Data Analyst Portfolio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Is This Project?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An end-to-end Bank Loan Analysis Dashboard built entirely in Microsoft Excel.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0428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Transforms raw CSV loan data into a fully interactive, multi-page reporting suite.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6265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Covers portfolio KPIs, Good vs Bad loan segmentation, and dimensional breakdowns.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2102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Enables stakeholders to monitor lending performance without any external BI tool.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162040"/>
          </a:solidFill>
          <a:ln w="12700">
            <a:solidFill>
              <a:srgbClr val="F472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F4724A"/>
          </a:solidFill>
          <a:ln w="12700">
            <a:solidFill>
              <a:srgbClr val="F47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Pages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691640"/>
            <a:ext cx="3566160" cy="7498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</a:rPr>
              <a:t>📋 Summary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965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7"/>
                </a:solidFill>
              </a:rPr>
              <a:t>KPI cards, Good/Bad loan donut charts, loan status table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606040"/>
            <a:ext cx="3566160" cy="7498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2606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</a:rPr>
              <a:t>🗺️ Overview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2880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7"/>
                </a:solidFill>
              </a:rPr>
              <a:t>Monthly trend, US state map, purpose &amp; tenure charts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520440"/>
            <a:ext cx="3566160" cy="7498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3520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</a:rPr>
              <a:t>📄 Details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794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7"/>
                </a:solidFill>
              </a:rPr>
              <a:t>Row-level filterable drill-through loan table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4"/>
                </a:solidFill>
              </a:rPr>
              <a:t>Bank Loan Report  |  Abhisek Nayak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554480" cy="2926080"/>
          </a:xfrm>
          <a:prstGeom prst="rect">
            <a:avLst/>
          </a:prstGeom>
          <a:solidFill>
            <a:srgbClr val="1620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554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24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Total Loan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Applications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38.6K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4.3K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761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+6.9%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1051560"/>
            <a:ext cx="1554480" cy="2926080"/>
          </a:xfrm>
          <a:prstGeom prst="rect">
            <a:avLst/>
          </a:prstGeom>
          <a:solidFill>
            <a:srgbClr val="162040"/>
          </a:solidFill>
          <a:ln w="19050">
            <a:solidFill>
              <a:srgbClr val="F472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051560"/>
            <a:ext cx="1554480" cy="73152"/>
          </a:xfrm>
          <a:prstGeom prst="rect">
            <a:avLst/>
          </a:prstGeom>
          <a:solidFill>
            <a:srgbClr val="F4724A"/>
          </a:solidFill>
          <a:ln w="12700">
            <a:solidFill>
              <a:srgbClr val="F47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124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Total Funded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Amount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17190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24A"/>
                </a:solidFill>
              </a:rPr>
              <a:t>$435.8M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5740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MTD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MOM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$54.0M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2761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+13.0%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1051560"/>
            <a:ext cx="1554480" cy="2926080"/>
          </a:xfrm>
          <a:prstGeom prst="rect">
            <a:avLst/>
          </a:prstGeom>
          <a:solidFill>
            <a:srgbClr val="162040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051560"/>
            <a:ext cx="15544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124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Total Amount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Received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0" y="17190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</a:rPr>
              <a:t>$473.1M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9476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MTD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94760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$58.1M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2761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+15.8%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1051560"/>
            <a:ext cx="1554480" cy="2926080"/>
          </a:xfrm>
          <a:prstGeom prst="rect">
            <a:avLst/>
          </a:prstGeom>
          <a:solidFill>
            <a:srgbClr val="162040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1051560"/>
            <a:ext cx="15544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124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Avg Interest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Rate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17190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12.05%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3212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MTD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12.36%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2761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+3.5%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1051560"/>
            <a:ext cx="1554480" cy="2926080"/>
          </a:xfrm>
          <a:prstGeom prst="rect">
            <a:avLst/>
          </a:prstGeom>
          <a:solidFill>
            <a:srgbClr val="1620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23760" y="1051560"/>
            <a:ext cx="1554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1124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Avg Debt-to-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7"/>
                </a:solidFill>
              </a:rPr>
              <a:t>Income (DTI)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23760" y="17190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13.33%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26948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MTD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MOM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69480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13.67%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46720" y="2761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+2.7%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C4"/>
                </a:solidFill>
              </a:rPr>
              <a:t>MTD = Month-to-Date (Dec)   |   MOM = Month-over-Month Growth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4"/>
                </a:solidFill>
              </a:rPr>
              <a:t>Bank Loan Report  |  Abhisek Nayak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QUALITY SEGMENTATION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3657600"/>
          </a:xfrm>
          <a:prstGeom prst="rect">
            <a:avLst/>
          </a:prstGeom>
          <a:solidFill>
            <a:srgbClr val="162040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93192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GOOD LOAN ISSUED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7AE60"/>
                </a:solidFill>
              </a:rPr>
              <a:t>86.18%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3566160" cy="53035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578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Total Applications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5786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724A"/>
                </a:solidFill>
              </a:rPr>
              <a:t>33.2K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3566160" cy="53035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255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Funded Amount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2552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724A"/>
                </a:solidFill>
              </a:rPr>
              <a:t>$370.2M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3566160" cy="53035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Amount Received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931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724A"/>
                </a:solidFill>
              </a:rPr>
              <a:t>$435.8M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051560"/>
            <a:ext cx="3931920" cy="3657600"/>
          </a:xfrm>
          <a:prstGeom prst="rect">
            <a:avLst/>
          </a:prstGeom>
          <a:solidFill>
            <a:srgbClr val="162040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051560"/>
            <a:ext cx="393192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051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 BAD LOAN ISSUED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600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74C3C"/>
                </a:solidFill>
              </a:rPr>
              <a:t>13.82%</a:t>
            </a:r>
            <a:endParaRPr lang="en-US" sz="4600" dirty="0"/>
          </a:p>
        </p:txBody>
      </p:sp>
      <p:sp>
        <p:nvSpPr>
          <p:cNvPr id="22" name="Shape 20"/>
          <p:cNvSpPr/>
          <p:nvPr/>
        </p:nvSpPr>
        <p:spPr>
          <a:xfrm>
            <a:off x="5074920" y="2542032"/>
            <a:ext cx="3566160" cy="53035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2578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Total Applications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25786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724A"/>
                </a:solidFill>
              </a:rPr>
              <a:t>5.3K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74920" y="3218688"/>
            <a:ext cx="3566160" cy="53035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66360" y="3255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Funded Amount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32552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724A"/>
                </a:solidFill>
              </a:rPr>
              <a:t>$65.5M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74920" y="3895344"/>
            <a:ext cx="3566160" cy="53035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63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</a:rPr>
              <a:t>Amount Received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3931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724A"/>
                </a:solidFill>
              </a:rPr>
              <a:t>$37.3M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4"/>
                </a:solidFill>
              </a:rPr>
              <a:t>Bank Loan Report  |  Abhisek Nayak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F4724A"/>
          </a:solidFill>
          <a:ln w="12700">
            <a:solidFill>
              <a:srgbClr val="F47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 —  SUMMARY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5 KPI Cards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Total Applications, Funded Amount, Amount Received, Avg Interest Rate, Avg DTI — each with Total, MTD &amp; MOM values.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9728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Good Loan Section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463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Donut chart (86.18%) + 3 metric tiles showing applications (33.2K), funded ($370.2M), and received ($435.8M).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33172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3172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317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404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Bad Loan Section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697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Donut chart (13.82%) + 3 metric tiles showing applications (5.3K), funded ($65.5M), and received ($37.3M).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33172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33172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3317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2404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Loan Status Table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697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Side-by-side bar comparison for Fully Paid (32.1K), Charged Off (5.3K), and Current (1.1K) across all 5 KPIs.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6616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661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🔽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4400" y="3639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Slicers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Grade (A–G) and Purpose slicers connected to all PivotTables via Report Connections for cross-page filtering.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56616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6616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5661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94960" y="3639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Formatting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Dark navy theme, hidden gridlines, navigation buttons (Summary / Overview / Details) built with Shapes + Hyperlinks.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4"/>
                </a:solidFill>
              </a:rPr>
              <a:t>Bank Loan Report  |  Abhisek Nayak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 —  OVERVIEW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41605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Line Chart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Loan Applications by Month — steady growth from 2.3K (Jan) to 4.3K (Dec), +87% YTD.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9728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00600" y="2084832"/>
            <a:ext cx="4160520" cy="91440"/>
          </a:xfrm>
          <a:prstGeom prst="rect">
            <a:avLst/>
          </a:prstGeom>
          <a:solidFill>
            <a:srgbClr val="F4724A"/>
          </a:solidFill>
          <a:ln w="12700">
            <a:solidFill>
              <a:srgbClr val="F47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4A"/>
                </a:solidFill>
              </a:rPr>
              <a:t>Filled Map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44475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Applications by US State using Excel's built-in Map Chart — identifies high-volume lending states.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3172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317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20040" y="3319272"/>
            <a:ext cx="416052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404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</a:rPr>
              <a:t>Horizontal Bar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67919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Applications by Employment Length — 10+ yrs leads with 8.9K, showing lender preference for tenure.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33172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33172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3317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800600" y="3319272"/>
            <a:ext cx="416052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404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Horizontal Bar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67919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Applications by Purpose — Debt Consolidation dominates at 18.2K (~47%), followed by Credit Card at 5.0K.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56616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56616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661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🍩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20040" y="4553712"/>
            <a:ext cx="41605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639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Donut Chart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391363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Loan Term split — 60-month (28.2K) vs 36-month (10.3K), showing preference for lower installments.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566160"/>
            <a:ext cx="4160520" cy="1078992"/>
          </a:xfrm>
          <a:prstGeom prst="rect">
            <a:avLst/>
          </a:prstGeom>
          <a:solidFill>
            <a:srgbClr val="162040"/>
          </a:solidFill>
          <a:ln w="12700">
            <a:solidFill>
              <a:srgbClr val="1C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566160"/>
            <a:ext cx="502920" cy="107899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5661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800600" y="4553712"/>
            <a:ext cx="4160520" cy="91440"/>
          </a:xfrm>
          <a:prstGeom prst="rect">
            <a:avLst/>
          </a:prstGeom>
          <a:solidFill>
            <a:srgbClr val="F4724A"/>
          </a:solidFill>
          <a:ln w="12700">
            <a:solidFill>
              <a:srgbClr val="F472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3639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4A"/>
                </a:solidFill>
              </a:rPr>
              <a:t>Stacked Bar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94960" y="391363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</a:rPr>
              <a:t>Home Ownership breakdown — Rent (18.4K) vs Mortgage (17.2K) vs Own (2.8K) across all applications.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4"/>
                </a:solidFill>
              </a:rPr>
              <a:t>Bank Loan Report  |  Abhisek Nayak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651760" cy="1554480"/>
          </a:xfrm>
          <a:prstGeom prst="rect">
            <a:avLst/>
          </a:prstGeom>
          <a:solidFill>
            <a:srgbClr val="162040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850392"/>
            <a:ext cx="640080" cy="6400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850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</a:rPr>
              <a:t>Microsoft Excel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7"/>
                </a:solidFill>
              </a:rPr>
              <a:t>End-to-end dashboard development — the sole platform for this project.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651760" cy="1554480"/>
          </a:xfrm>
          <a:prstGeom prst="rect">
            <a:avLst/>
          </a:prstGeom>
          <a:solidFill>
            <a:srgbClr val="1620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850392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850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Power Query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8836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7"/>
                </a:solidFill>
              </a:rPr>
              <a:t>Data import, cleaning &amp; transformation using Get &amp; Transform Editor.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078992"/>
            <a:ext cx="2651760" cy="1554480"/>
          </a:xfrm>
          <a:prstGeom prst="rect">
            <a:avLst/>
          </a:prstGeom>
          <a:solidFill>
            <a:srgbClr val="162040"/>
          </a:solidFill>
          <a:ln w="19050">
            <a:solidFill>
              <a:srgbClr val="F472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850392"/>
            <a:ext cx="640080" cy="640080"/>
          </a:xfrm>
          <a:prstGeom prst="ellipse">
            <a:avLst/>
          </a:prstGeom>
          <a:solidFill>
            <a:srgbClr val="F4724A"/>
          </a:solidFill>
          <a:ln w="12700">
            <a:solidFill>
              <a:srgbClr val="F47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850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24A"/>
                </a:solidFill>
              </a:rPr>
              <a:t>PivotTables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8836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7"/>
                </a:solidFill>
              </a:rPr>
              <a:t>Aggregation engine powering every chart — MOM, state, purpose, grade.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16352"/>
            <a:ext cx="2651760" cy="1554480"/>
          </a:xfrm>
          <a:prstGeom prst="rect">
            <a:avLst/>
          </a:prstGeom>
          <a:solidFill>
            <a:srgbClr val="1620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25880" y="2587752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Excel Charts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6210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7"/>
                </a:solidFill>
              </a:rPr>
              <a:t>Line, Bar, Donut, Map, Stacked Bar visuals with custom dark-theme formatting.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816352"/>
            <a:ext cx="2651760" cy="1554480"/>
          </a:xfrm>
          <a:prstGeom prst="rect">
            <a:avLst/>
          </a:prstGeom>
          <a:solidFill>
            <a:srgbClr val="162040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06240" y="2587752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🔽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9184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Slicers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6210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7"/>
                </a:solidFill>
              </a:rPr>
              <a:t>Interactive cross-page filtering via Report Connections on Grade &amp; Purpose.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816352"/>
            <a:ext cx="2651760" cy="1554480"/>
          </a:xfrm>
          <a:prstGeom prst="rect">
            <a:avLst/>
          </a:prstGeom>
          <a:solidFill>
            <a:srgbClr val="162040"/>
          </a:solidFill>
          <a:ln w="19050">
            <a:solidFill>
              <a:srgbClr val="F472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86600" y="2587752"/>
            <a:ext cx="640080" cy="640080"/>
          </a:xfrm>
          <a:prstGeom prst="ellipse">
            <a:avLst/>
          </a:prstGeom>
          <a:solidFill>
            <a:srgbClr val="F4724A"/>
          </a:solidFill>
          <a:ln w="12700">
            <a:solidFill>
              <a:srgbClr val="F47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7220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24A"/>
                </a:solidFill>
              </a:rPr>
              <a:t>Conditional Formatting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6210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7"/>
                </a:solidFill>
              </a:rPr>
              <a:t>KPI status indicators, heatmaps, and data bar highlights throughout.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4"/>
                </a:solidFill>
              </a:rPr>
              <a:t>Bank Loan Report  |  Abhisek Nayak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645920"/>
          </a:xfrm>
          <a:prstGeom prst="rect">
            <a:avLst/>
          </a:prstGeom>
          <a:solidFill>
            <a:srgbClr val="1620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+87%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746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YTD Loan Growth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391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C4"/>
                </a:solidFill>
              </a:rPr>
              <a:t>Applications grew from 2.3K (Jan) to 4.3K (Dec), with strongest momentum in Q4.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1645920"/>
          </a:xfrm>
          <a:prstGeom prst="rect">
            <a:avLst/>
          </a:prstGeom>
          <a:solidFill>
            <a:srgbClr val="162040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51560"/>
            <a:ext cx="265176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1612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CC71"/>
                </a:solidFill>
              </a:rPr>
              <a:t>86.18%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154680" y="1746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Good Loan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20391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C4"/>
                </a:solidFill>
              </a:rPr>
              <a:t>Fully Paid + Current loans dominate. Charged Off exposure totals $65.5M in bad debt.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651760" cy="1645920"/>
          </a:xfrm>
          <a:prstGeom prst="rect">
            <a:avLst/>
          </a:prstGeom>
          <a:solidFill>
            <a:srgbClr val="162040"/>
          </a:solidFill>
          <a:ln w="19050">
            <a:solidFill>
              <a:srgbClr val="F472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51560"/>
            <a:ext cx="2651760" cy="73152"/>
          </a:xfrm>
          <a:prstGeom prst="rect">
            <a:avLst/>
          </a:prstGeom>
          <a:solidFill>
            <a:srgbClr val="F4724A"/>
          </a:solidFill>
          <a:ln w="12700">
            <a:solidFill>
              <a:srgbClr val="F47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1612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724A"/>
                </a:solidFill>
              </a:rPr>
              <a:t>47%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35040" y="1746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Debt Consolidation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0391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C4"/>
                </a:solidFill>
              </a:rPr>
              <a:t>18.2K applications — the #1 loan purpose. Credit Card refinancing is second at 5.0K.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651760" cy="1645920"/>
          </a:xfrm>
          <a:prstGeom prst="rect">
            <a:avLst/>
          </a:prstGeom>
          <a:solidFill>
            <a:srgbClr val="162040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26517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900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</a:rPr>
              <a:t>8.9K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74320" y="3575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10+ Yr Employees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8679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C4"/>
                </a:solidFill>
              </a:rPr>
              <a:t>Largest borrower segment by tenure, reflecting lender preference for stable income.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880360"/>
            <a:ext cx="2651760" cy="1645920"/>
          </a:xfrm>
          <a:prstGeom prst="rect">
            <a:avLst/>
          </a:prstGeom>
          <a:solidFill>
            <a:srgbClr val="162040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880360"/>
            <a:ext cx="265176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9900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74C3C"/>
                </a:solidFill>
              </a:rPr>
              <a:t>2.3%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154680" y="3575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Rate Gap (Risk)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38679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C4"/>
                </a:solidFill>
              </a:rPr>
              <a:t>Charged Off loans avg 13.9% vs 11.6% for Fully Paid — rate is a strong default predictor.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880360"/>
            <a:ext cx="2651760" cy="1645920"/>
          </a:xfrm>
          <a:prstGeom prst="rect">
            <a:avLst/>
          </a:prstGeom>
          <a:solidFill>
            <a:srgbClr val="1620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8036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9900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73%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035040" y="3575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60-Month Loans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8679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C4"/>
                </a:solidFill>
              </a:rPr>
              <a:t>28.2K borrowers chose 60-month terms over 36-month (10.3K), favouring lower EMIs.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4"/>
                </a:solidFill>
              </a:rPr>
              <a:t>Bank Loan Report  |  Abhisek Nayak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09344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B4D8"/>
                </a:solidFill>
              </a:rPr>
              <a:t>Bank Loan Report  |  Interactive Excel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1708622"/>
            <a:ext cx="4572000" cy="2286000"/>
          </a:xfrm>
          <a:prstGeom prst="rect">
            <a:avLst/>
          </a:prstGeom>
          <a:solidFill>
            <a:srgbClr val="1620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2019191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👨‍💻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331720" y="27350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Abhisek Nayak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31720" y="3339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B4D8"/>
                </a:solidFill>
              </a:rPr>
              <a:t>Data Analyst  |  Portfolio Project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842</Words>
  <Application>Microsoft Office PowerPoint</Application>
  <PresentationFormat>On-screen Show (16:9)</PresentationFormat>
  <Paragraphs>174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Report - Interactive Excel Dashboard</dc:title>
  <dc:subject>PptxGenJS Presentation</dc:subject>
  <dc:creator>Abhisek Nayak</dc:creator>
  <cp:lastModifiedBy>Abhisek Nayak</cp:lastModifiedBy>
  <cp:revision>2</cp:revision>
  <dcterms:created xsi:type="dcterms:W3CDTF">2026-03-14T20:53:06Z</dcterms:created>
  <dcterms:modified xsi:type="dcterms:W3CDTF">2026-03-14T20:58:06Z</dcterms:modified>
</cp:coreProperties>
</file>